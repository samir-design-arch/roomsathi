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1828800"/>
            <a:ext cx="6400800" cy="6400800"/>
          </a:xfrm>
          <a:prstGeom prst="ellipse">
            <a:avLst/>
          </a:prstGeom>
          <a:solidFill>
            <a:srgbClr val="6C63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3657600"/>
            <a:ext cx="3657600" cy="3657600"/>
          </a:xfrm>
          <a:prstGeom prst="ellipse">
            <a:avLst/>
          </a:prstGeom>
          <a:solidFill>
            <a:srgbClr val="6C63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0"/>
            <a:ext cx="54864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6C63FF"/>
                </a:solidFill>
                <a:latin typeface="Calibri"/>
              </a:defRPr>
            </a:pPr>
            <a:r>
              <a:t>RoomSathi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Find Your Perfect Room in Nepal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9EB0"/>
                </a:solidFill>
                <a:latin typeface="Calibri"/>
              </a:defRPr>
            </a:pPr>
            <a:r>
              <a:t>Verified rooms, hostels &amp; flats across Kathmandu</a:t>
            </a:r>
            <a:br/>
            <a:r>
              <a:t>AI-powered recommendations — Zero broker fees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754880"/>
            <a:ext cx="1828800" cy="41148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83FF"/>
                </a:solidFill>
                <a:latin typeface="Calibri"/>
              </a:defRPr>
            </a:pPr>
            <a:r>
              <a:t>#NoBrokerFees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4754880"/>
            <a:ext cx="1828800" cy="41148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4754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83FF"/>
                </a:solidFill>
                <a:latin typeface="Calibri"/>
              </a:defRPr>
            </a:pPr>
            <a:r>
              <a:t>#VerifiedListings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4754880"/>
            <a:ext cx="1828800" cy="41148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4754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83FF"/>
                </a:solidFill>
                <a:latin typeface="Calibri"/>
              </a:defRPr>
            </a:pPr>
            <a:r>
              <a:t>#AIRecommendations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4754880"/>
            <a:ext cx="1828800" cy="41148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4754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83FF"/>
                </a:solidFill>
                <a:latin typeface="Calibri"/>
              </a:defRPr>
            </a:pPr>
            <a:r>
              <a:t>#KathmanduRentals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Startup Pitch Deck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Broken Rental Market in Kathmandu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21945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783080"/>
            <a:ext cx="548640" cy="548640"/>
          </a:xfrm>
          <a:prstGeom prst="ellipse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Broker Fees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EB0"/>
                </a:solidFill>
                <a:latin typeface="Calibri"/>
              </a:defRPr>
            </a:pPr>
            <a:r>
              <a:t>30-50% of first month's</a:t>
            </a:r>
            <a:br/>
            <a:r>
              <a:t>rent goes to middlemen.</a:t>
            </a:r>
            <a:br/>
            <a:r>
              <a:t>Students get exploited.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54480"/>
            <a:ext cx="3383280" cy="21945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63439" y="1783080"/>
            <a:ext cx="548640" cy="548640"/>
          </a:xfrm>
          <a:prstGeom prst="ellipse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59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Scattered Listings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4688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EB0"/>
                </a:solidFill>
                <a:latin typeface="Calibri"/>
              </a:defRPr>
            </a:pPr>
            <a:r>
              <a:t>Facebook, Tolet Nepal,</a:t>
            </a:r>
            <a:br/>
            <a:r>
              <a:t>broker WhatsApp groups...</a:t>
            </a:r>
            <a:br/>
            <a:r>
              <a:t>No central platform.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554480"/>
            <a:ext cx="3383280" cy="21945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0" y="1783080"/>
            <a:ext cx="548640" cy="548640"/>
          </a:xfrm>
          <a:prstGeom prst="ellipse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Fake Listings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4688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EB0"/>
                </a:solidFill>
                <a:latin typeface="Calibri"/>
              </a:defRPr>
            </a:pPr>
            <a:r>
              <a:t>Rooms shown available</a:t>
            </a:r>
            <a:br/>
            <a:r>
              <a:t>don't exist. Photos are</a:t>
            </a:r>
            <a:br/>
            <a:r>
              <a:t>old or fake. No trust.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3383280" cy="21945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4343400"/>
            <a:ext cx="548640" cy="548640"/>
          </a:xfrm>
          <a:prstGeom prst="ellipse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No Real-Time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0292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EB0"/>
                </a:solidFill>
                <a:latin typeface="Calibri"/>
              </a:defRPr>
            </a:pPr>
            <a:r>
              <a:t>Listed rooms are</a:t>
            </a:r>
            <a:br/>
            <a:r>
              <a:t>already taken. No live</a:t>
            </a:r>
            <a:br/>
            <a:r>
              <a:t>availability status.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4114800"/>
            <a:ext cx="3383280" cy="21945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63439" y="4343400"/>
            <a:ext cx="548640" cy="548640"/>
          </a:xfrm>
          <a:prstGeom prst="ellipse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59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No Standardization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50292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EB0"/>
                </a:solidFill>
                <a:latin typeface="Calibri"/>
              </a:defRPr>
            </a:pPr>
            <a:r>
              <a:t>No uniform pricing,</a:t>
            </a:r>
            <a:br/>
            <a:r>
              <a:t>no consistent photos,</a:t>
            </a:r>
            <a:br/>
            <a:r>
              <a:t>no verified amenities.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114800"/>
            <a:ext cx="3383280" cy="21945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12480" y="4343400"/>
            <a:ext cx="548640" cy="548640"/>
          </a:xfrm>
          <a:prstGeom prst="ellipse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Hard to Compare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0292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EB0"/>
                </a:solidFill>
                <a:latin typeface="Calibri"/>
              </a:defRPr>
            </a:pPr>
            <a:r>
              <a:t>No way to compare</a:t>
            </a:r>
            <a:br/>
            <a:r>
              <a:t>rooms side by side.</a:t>
            </a:r>
            <a:br/>
            <a:r>
              <a:t>Endless phone calls.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943600"/>
            <a:ext cx="10698480" cy="548640"/>
          </a:xfrm>
          <a:prstGeom prst="roundRect">
            <a:avLst/>
          </a:prstGeom>
          <a:solidFill>
            <a:srgbClr val="2A0F0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46F6F"/>
                </a:solidFill>
                <a:latin typeface="Calibri"/>
              </a:defRPr>
            </a:pPr>
            <a:r>
              <a:t>⚡   Students &amp; young professionals waste 2-4 weeks and thousands of rupees just to find a decent room.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RoomSathi — Your All-in-One Rental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594360"/>
          </a:xfrm>
          <a:prstGeom prst="roundRect">
            <a:avLst/>
          </a:prstGeom>
          <a:solidFill>
            <a:srgbClr val="2A0F0F"/>
          </a:solidFill>
          <a:ln w="6350">
            <a:solidFill>
              <a:srgbClr val="44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46F6F"/>
                </a:solidFill>
                <a:latin typeface="Calibri"/>
              </a:defRPr>
            </a:pPr>
            <a:r>
              <a:t>💸 Broker Fees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5087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1463040"/>
            <a:ext cx="3474720" cy="594360"/>
          </a:xfrm>
          <a:prstGeom prst="roundRect">
            <a:avLst/>
          </a:prstGeom>
          <a:solidFill>
            <a:srgbClr val="0F2217"/>
          </a:solidFill>
          <a:ln w="6350">
            <a:solidFill>
              <a:srgbClr val="224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15087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D399"/>
                </a:solidFill>
                <a:latin typeface="Calibri"/>
              </a:defRPr>
            </a:pPr>
            <a:r>
              <a:t>Zero broker fees. Direct</a:t>
            </a:r>
            <a:br/>
            <a:r>
              <a:t>contact with landlords.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40280"/>
            <a:ext cx="2560320" cy="594360"/>
          </a:xfrm>
          <a:prstGeom prst="roundRect">
            <a:avLst/>
          </a:prstGeom>
          <a:solidFill>
            <a:srgbClr val="2A0F0F"/>
          </a:solidFill>
          <a:ln w="6350">
            <a:solidFill>
              <a:srgbClr val="44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46F6F"/>
                </a:solidFill>
                <a:latin typeface="Calibri"/>
              </a:defRPr>
            </a:pPr>
            <a:r>
              <a:t>📱 Scattered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2860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2240280"/>
            <a:ext cx="3474720" cy="594360"/>
          </a:xfrm>
          <a:prstGeom prst="roundRect">
            <a:avLst/>
          </a:prstGeom>
          <a:solidFill>
            <a:srgbClr val="0F2217"/>
          </a:solidFill>
          <a:ln w="6350">
            <a:solidFill>
              <a:srgbClr val="224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22860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D399"/>
                </a:solidFill>
                <a:latin typeface="Calibri"/>
              </a:defRPr>
            </a:pPr>
            <a:r>
              <a:t>Unified platform with all</a:t>
            </a:r>
            <a:br/>
            <a:r>
              <a:t>listings in one place.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17520"/>
            <a:ext cx="2560320" cy="594360"/>
          </a:xfrm>
          <a:prstGeom prst="roundRect">
            <a:avLst/>
          </a:prstGeom>
          <a:solidFill>
            <a:srgbClr val="2A0F0F"/>
          </a:solidFill>
          <a:ln w="6350">
            <a:solidFill>
              <a:srgbClr val="44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0632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46F6F"/>
                </a:solidFill>
                <a:latin typeface="Calibri"/>
              </a:defRPr>
            </a:pPr>
            <a:r>
              <a:t>🎭 Fake Listings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0632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3017520"/>
            <a:ext cx="3474720" cy="594360"/>
          </a:xfrm>
          <a:prstGeom prst="roundRect">
            <a:avLst/>
          </a:prstGeom>
          <a:solidFill>
            <a:srgbClr val="0F2217"/>
          </a:solidFill>
          <a:ln w="6350">
            <a:solidFill>
              <a:srgbClr val="224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0" y="30632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D399"/>
                </a:solidFill>
                <a:latin typeface="Calibri"/>
              </a:defRPr>
            </a:pPr>
            <a:r>
              <a:t>Every room physically</a:t>
            </a:r>
            <a:br/>
            <a:r>
              <a:t>verified before listing.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94760"/>
            <a:ext cx="2560320" cy="594360"/>
          </a:xfrm>
          <a:prstGeom prst="roundRect">
            <a:avLst/>
          </a:prstGeom>
          <a:solidFill>
            <a:srgbClr val="2A0F0F"/>
          </a:solidFill>
          <a:ln w="6350">
            <a:solidFill>
              <a:srgbClr val="44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8404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46F6F"/>
                </a:solidFill>
                <a:latin typeface="Calibri"/>
              </a:defRPr>
            </a:pPr>
            <a:r>
              <a:t>⏰ No Real-Time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8404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31920" y="3794760"/>
            <a:ext cx="3474720" cy="594360"/>
          </a:xfrm>
          <a:prstGeom prst="roundRect">
            <a:avLst/>
          </a:prstGeom>
          <a:solidFill>
            <a:srgbClr val="0F2217"/>
          </a:solidFill>
          <a:ln w="6350">
            <a:solidFill>
              <a:srgbClr val="224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0" y="38404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D399"/>
                </a:solidFill>
                <a:latin typeface="Calibri"/>
              </a:defRPr>
            </a:pPr>
            <a:r>
              <a:t>Live availability calendar</a:t>
            </a:r>
            <a:br/>
            <a:r>
              <a:t>&amp; instant booking.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572000"/>
            <a:ext cx="2560320" cy="594360"/>
          </a:xfrm>
          <a:prstGeom prst="roundRect">
            <a:avLst/>
          </a:prstGeom>
          <a:solidFill>
            <a:srgbClr val="2A0F0F"/>
          </a:solidFill>
          <a:ln w="6350">
            <a:solidFill>
              <a:srgbClr val="44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6177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46F6F"/>
                </a:solidFill>
                <a:latin typeface="Calibri"/>
              </a:defRPr>
            </a:pPr>
            <a:r>
              <a:t>📊 No Standard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6177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31920" y="4572000"/>
            <a:ext cx="3474720" cy="594360"/>
          </a:xfrm>
          <a:prstGeom prst="roundRect">
            <a:avLst/>
          </a:prstGeom>
          <a:solidFill>
            <a:srgbClr val="0F2217"/>
          </a:solidFill>
          <a:ln w="6350">
            <a:solidFill>
              <a:srgbClr val="224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23360" y="46177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D399"/>
                </a:solidFill>
                <a:latin typeface="Calibri"/>
              </a:defRPr>
            </a:pPr>
            <a:r>
              <a:t>Standard format: photos,</a:t>
            </a:r>
            <a:br/>
            <a:r>
              <a:t>videos, amenities, price.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349240"/>
            <a:ext cx="2560320" cy="594360"/>
          </a:xfrm>
          <a:prstGeom prst="roundRect">
            <a:avLst/>
          </a:prstGeom>
          <a:solidFill>
            <a:srgbClr val="2A0F0F"/>
          </a:solidFill>
          <a:ln w="6350">
            <a:solidFill>
              <a:srgbClr val="44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3949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46F6F"/>
                </a:solidFill>
                <a:latin typeface="Calibri"/>
              </a:defRPr>
            </a:pPr>
            <a:r>
              <a:t>😤 Hard Compare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53949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31920" y="5349240"/>
            <a:ext cx="3474720" cy="594360"/>
          </a:xfrm>
          <a:prstGeom prst="roundRect">
            <a:avLst/>
          </a:prstGeom>
          <a:solidFill>
            <a:srgbClr val="0F2217"/>
          </a:solidFill>
          <a:ln w="6350">
            <a:solidFill>
              <a:srgbClr val="224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23360" y="5394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D399"/>
                </a:solidFill>
                <a:latin typeface="Calibri"/>
              </a:defRPr>
            </a:pPr>
            <a:r>
              <a:t>Side-by-side comparison</a:t>
            </a:r>
            <a:br/>
            <a:r>
              <a:t>with AI recommendations.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1371600"/>
            <a:ext cx="3931920" cy="5029200"/>
          </a:xfrm>
          <a:prstGeom prst="round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79" y="1463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C63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7" name="Oval 36"/>
          <p:cNvSpPr/>
          <p:nvPr/>
        </p:nvSpPr>
        <p:spPr>
          <a:xfrm>
            <a:off x="7955279" y="2103120"/>
            <a:ext cx="457200" cy="4572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20574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Browse &amp; Filter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23774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9EB0"/>
                </a:solidFill>
                <a:latin typeface="Calibri"/>
              </a:defRPr>
            </a:pPr>
            <a:r>
              <a:t>Search by location, budget,</a:t>
            </a:r>
            <a:br/>
            <a:r>
              <a:t>amenities &amp; property type.</a:t>
            </a:r>
            <a:br/>
            <a:r>
              <a:t>AI finds your match.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83879" y="2743200"/>
            <a:ext cx="27432" cy="7315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955279" y="3657600"/>
            <a:ext cx="457200" cy="4572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3611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Connect Directly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39319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9EB0"/>
                </a:solidFill>
                <a:latin typeface="Calibri"/>
              </a:defRPr>
            </a:pPr>
            <a:r>
              <a:t>Chat with landlords or</a:t>
            </a:r>
            <a:br/>
            <a:r>
              <a:t>tenants. Schedule visits.</a:t>
            </a:r>
            <a:br/>
            <a:r>
              <a:t>No middlemen involved.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83879" y="4297680"/>
            <a:ext cx="27432" cy="7315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955279" y="5212079"/>
            <a:ext cx="457200" cy="4572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516635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Verified Move-In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5486399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9EB0"/>
                </a:solidFill>
                <a:latin typeface="Calibri"/>
              </a:defRPr>
            </a:pPr>
            <a:r>
              <a:t>Room is verified. Price is</a:t>
            </a:r>
            <a:br/>
            <a:r>
              <a:t>transparent. Sign &amp;</a:t>
            </a:r>
            <a:br/>
            <a:r>
              <a:t>move in. Zero fees.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  <a:latin typeface="Calibri"/>
              </a:defRPr>
            </a:pPr>
            <a:r>
              <a:t>MAIN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RoomSathi Bridges the Gap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657600" cy="4572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🏠  Tenants &amp;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🙏  Need affordable rooms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80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🔍  Tired of broker scams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⏱️  Want instant availability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69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📱  Prefer digital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663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💰  Limited budget (5K-25K/mo)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560320"/>
            <a:ext cx="3017520" cy="228600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743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RoomSathi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2918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✅ Verified Listings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6393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✅ No Broker Fees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98678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✅ AI Matching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33425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✅ Direct Chat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68172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✅ Real-Time Avail.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32004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6C63FF"/>
                </a:solidFill>
                <a:latin typeface="Calibri"/>
              </a:defRPr>
            </a:pPr>
            <a:r>
              <a:t>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2004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6C63FF"/>
                </a:solidFill>
                <a:latin typeface="Calibri"/>
              </a:defRPr>
            </a:pPr>
            <a:r>
              <a:t>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1645920"/>
            <a:ext cx="3657600" cy="4572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1737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🏘️  Landlords &amp; Hostels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286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🏢  Have vacant rooms/properties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2880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👥  Need genuine tenants fast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474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📸  Want to showcase properly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069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✅  Tired of no-shows &amp; scams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663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📈  Want better occupancy rates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9EB0"/>
                </a:solidFill>
                <a:latin typeface="Calibri"/>
              </a:defRPr>
            </a:pPr>
            <a:r>
              <a:t>RoomSathi connects those who need rooms with those who have rooms — seamlessly, transparently, and without middlemen.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MARKET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 Large &amp; Growing Addressable Market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1645920"/>
            <a:ext cx="2743200" cy="2743200"/>
          </a:xfrm>
          <a:prstGeom prst="ellipse">
            <a:avLst/>
          </a:prstGeom>
          <a:solidFill>
            <a:srgbClr val="2222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63040" y="2011680"/>
            <a:ext cx="2011680" cy="201168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Calibri"/>
              </a:defRPr>
            </a:pPr>
            <a:r>
              <a:t>500K+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Students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3353106320" y="3657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9EB0"/>
                </a:solidFill>
                <a:latin typeface="Calibri"/>
              </a:defRPr>
            </a:pPr>
            <a:r>
              <a:t>Kathmandu Valley</a:t>
            </a:r>
            <a:br/>
            <a:r>
              <a:t>students needing</a:t>
            </a:r>
            <a:br/>
            <a:r>
              <a:t>hostels &amp; PGs</a:t>
            </a:r>
          </a:p>
        </p:txBody>
      </p:sp>
      <p:sp>
        <p:nvSpPr>
          <p:cNvPr id="11" name="Oval 10"/>
          <p:cNvSpPr/>
          <p:nvPr/>
        </p:nvSpPr>
        <p:spPr>
          <a:xfrm>
            <a:off x="4389120" y="1645920"/>
            <a:ext cx="2743200" cy="2743200"/>
          </a:xfrm>
          <a:prstGeom prst="ellipse">
            <a:avLst/>
          </a:prstGeom>
          <a:solidFill>
            <a:srgbClr val="2222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54880" y="2011680"/>
            <a:ext cx="2011680" cy="201168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011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Calibri"/>
              </a:defRPr>
            </a:pPr>
            <a:r>
              <a:t>300K+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Professionals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13411602320" y="3657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9EB0"/>
                </a:solidFill>
                <a:latin typeface="Calibri"/>
              </a:defRPr>
            </a:pPr>
            <a:r>
              <a:t>Working young</a:t>
            </a:r>
            <a:br/>
            <a:r>
              <a:t>professionals seeking</a:t>
            </a:r>
            <a:br/>
            <a:r>
              <a:t>flats &amp; apartments</a:t>
            </a:r>
          </a:p>
        </p:txBody>
      </p:sp>
      <p:sp>
        <p:nvSpPr>
          <p:cNvPr id="17" name="Oval 16"/>
          <p:cNvSpPr/>
          <p:nvPr/>
        </p:nvSpPr>
        <p:spPr>
          <a:xfrm>
            <a:off x="7680960" y="1645920"/>
            <a:ext cx="2743200" cy="2743200"/>
          </a:xfrm>
          <a:prstGeom prst="ellipse">
            <a:avLst/>
          </a:prstGeom>
          <a:solidFill>
            <a:srgbClr val="2222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0" y="2011680"/>
            <a:ext cx="2011680" cy="201168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2011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Calibri"/>
              </a:defRPr>
            </a:pPr>
            <a:r>
              <a:t>50K+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Landlords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3470098320" y="3657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9EB0"/>
                </a:solidFill>
                <a:latin typeface="Calibri"/>
              </a:defRPr>
            </a:pPr>
            <a:r>
              <a:t>Property owners</a:t>
            </a:r>
            <a:br/>
            <a:r>
              <a:t>with vacant rooms</a:t>
            </a:r>
            <a:br/>
            <a:r>
              <a:t>&amp; apartments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846320"/>
            <a:ext cx="10698480" cy="1645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💰  Total Addressable Market: NPR 2.5B+ annually in Kathmandu Valley rental commissions alone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9EB0"/>
                </a:solidFill>
                <a:latin typeface="Calibri"/>
              </a:defRPr>
            </a:pPr>
            <a:r>
              <a:t>Only 15% of rental transactions currently happen online — massive room for growth in digital rental ecosystem.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9EB0"/>
                </a:solidFill>
                <a:latin typeface="Calibri"/>
              </a:defRPr>
            </a:pPr>
            <a:r>
              <a:t>Nepal's urban migration rate is 3.4% annually — Kathmandu adds 100K+ new residents every year.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  <a:latin typeface="Calibri"/>
              </a:defRPr>
            </a:pPr>
            <a: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How We Compare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64008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371600"/>
            <a:ext cx="2560320" cy="64008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Facebook</a:t>
            </a:r>
            <a:br/>
            <a:r>
              <a:t>Groups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2560320" cy="64008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Tolet</a:t>
            </a:r>
            <a:br/>
            <a:r>
              <a:t>Nepal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371600"/>
            <a:ext cx="2560320" cy="64008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0" y="1371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Brokers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194560"/>
            <a:ext cx="2560320" cy="457200"/>
          </a:xfrm>
          <a:prstGeom prst="round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2128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Verified Listings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2194560"/>
            <a:ext cx="2560320" cy="457200"/>
          </a:xfrm>
          <a:prstGeom prst="round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2128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46F6F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194560"/>
            <a:ext cx="2560320" cy="457200"/>
          </a:xfrm>
          <a:prstGeom prst="round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2128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46F6F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2194560"/>
            <a:ext cx="2560320" cy="457200"/>
          </a:xfrm>
          <a:prstGeom prst="round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2128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46F6F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80" y="2194560"/>
            <a:ext cx="2560320" cy="457200"/>
          </a:xfrm>
          <a:prstGeom prst="round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70080" y="22128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2697480"/>
            <a:ext cx="2560320" cy="457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7157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No Broker Fee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2697480"/>
            <a:ext cx="2560320" cy="457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27157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4D399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697480"/>
            <a:ext cx="2560320" cy="457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7157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46F6F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2697480"/>
            <a:ext cx="2560320" cy="457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27157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46F6F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070080" y="2697480"/>
            <a:ext cx="2560320" cy="457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070080" y="27157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3200400"/>
            <a:ext cx="2560320" cy="457200"/>
          </a:xfrm>
          <a:prstGeom prst="round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321868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AI Recommendations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66160" y="3200400"/>
            <a:ext cx="2560320" cy="457200"/>
          </a:xfrm>
          <a:prstGeom prst="round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0" y="321868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46F6F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3200400"/>
            <a:ext cx="2560320" cy="457200"/>
          </a:xfrm>
          <a:prstGeom prst="round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21868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46F6F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35440" y="3200400"/>
            <a:ext cx="2560320" cy="457200"/>
          </a:xfrm>
          <a:prstGeom prst="round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5440" y="321868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46F6F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070080" y="3200400"/>
            <a:ext cx="2560320" cy="457200"/>
          </a:xfrm>
          <a:prstGeom prst="round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070080" y="321868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3703320"/>
            <a:ext cx="2560320" cy="457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37216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Real-Time Available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566160" y="3703320"/>
            <a:ext cx="2560320" cy="457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66160" y="37216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46F6F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3703320"/>
            <a:ext cx="2560320" cy="457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37216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46F6F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35440" y="3703320"/>
            <a:ext cx="2560320" cy="457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35440" y="37216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46F6F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2070080" y="3703320"/>
            <a:ext cx="2560320" cy="457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070080" y="37216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206240"/>
            <a:ext cx="2560320" cy="457200"/>
          </a:xfrm>
          <a:prstGeom prst="round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42245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Direct Chat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566160" y="4206240"/>
            <a:ext cx="2560320" cy="457200"/>
          </a:xfrm>
          <a:prstGeom prst="round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566160" y="42245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4D399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0" y="4206240"/>
            <a:ext cx="2560320" cy="457200"/>
          </a:xfrm>
          <a:prstGeom prst="round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0" y="42245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46F6F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235440" y="4206240"/>
            <a:ext cx="2560320" cy="457200"/>
          </a:xfrm>
          <a:prstGeom prst="round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35440" y="42245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46F6F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2070080" y="4206240"/>
            <a:ext cx="2560320" cy="457200"/>
          </a:xfrm>
          <a:prstGeom prst="round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2070080" y="42245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4709160"/>
            <a:ext cx="2560320" cy="457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4727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Standardized Photos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566160" y="4709160"/>
            <a:ext cx="2560320" cy="457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566160" y="4727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46F6F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00800" y="4709160"/>
            <a:ext cx="2560320" cy="457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0" y="4727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46F6F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235440" y="4709160"/>
            <a:ext cx="2560320" cy="457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235440" y="4727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46F6F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2070080" y="4709160"/>
            <a:ext cx="2560320" cy="457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2070080" y="4727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31520" y="5212080"/>
            <a:ext cx="2560320" cy="457200"/>
          </a:xfrm>
          <a:prstGeom prst="round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1520" y="52303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Mobile App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566160" y="5212080"/>
            <a:ext cx="2560320" cy="457200"/>
          </a:xfrm>
          <a:prstGeom prst="round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566160" y="52303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4D399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400800" y="5212080"/>
            <a:ext cx="2560320" cy="457200"/>
          </a:xfrm>
          <a:prstGeom prst="round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0" y="52303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46F6F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235440" y="5212080"/>
            <a:ext cx="2560320" cy="457200"/>
          </a:xfrm>
          <a:prstGeom prst="round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235440" y="52303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46F6F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2070080" y="5212080"/>
            <a:ext cx="2560320" cy="457200"/>
          </a:xfrm>
          <a:prstGeom prst="round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2070080" y="52303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49EB0"/>
                </a:solidFill>
                <a:latin typeface="Calibri"/>
              </a:defRPr>
            </a:pPr>
            <a:r>
              <a:t>🚀 Soon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31520" y="5715000"/>
            <a:ext cx="2560320" cy="457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573328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Ratings &amp; Reviews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566160" y="5715000"/>
            <a:ext cx="2560320" cy="457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566160" y="573328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46F6F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400800" y="5715000"/>
            <a:ext cx="2560320" cy="457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00800" y="573328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46F6F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235440" y="5715000"/>
            <a:ext cx="2560320" cy="457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235440" y="573328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46F6F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2070080" y="5715000"/>
            <a:ext cx="2560320" cy="457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2070080" y="573328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Calibri"/>
              </a:defRPr>
            </a:pPr>
            <a:r>
              <a:t>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Built with Modern Web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5720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383280" cy="914400"/>
          </a:xfrm>
          <a:prstGeom prst="roundRect">
            <a:avLst/>
          </a:prstGeom>
          <a:solidFill>
            <a:srgbClr val="222238"/>
          </a:solidFill>
          <a:ln w="6350">
            <a:solidFill>
              <a:srgbClr val="3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  <a:latin typeface="Calibri"/>
              </a:defRPr>
            </a:pPr>
            <a:r>
              <a:t>Next.js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EB0"/>
                </a:solidFill>
                <a:latin typeface="Calibri"/>
              </a:defRPr>
            </a:pPr>
            <a:r>
              <a:t>React framework</a:t>
            </a:r>
            <a:br/>
            <a:r>
              <a:t>w/ Turbopack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3383280" cy="914400"/>
          </a:xfrm>
          <a:prstGeom prst="roundRect">
            <a:avLst/>
          </a:prstGeom>
          <a:solidFill>
            <a:srgbClr val="222238"/>
          </a:solidFill>
          <a:ln w="6350">
            <a:solidFill>
              <a:srgbClr val="3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  <a:latin typeface="Calibri"/>
              </a:defRPr>
            </a:pPr>
            <a:r>
              <a:t>TypeScript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20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EB0"/>
                </a:solidFill>
                <a:latin typeface="Calibri"/>
              </a:defRPr>
            </a:pPr>
            <a:r>
              <a:t>Type-safe</a:t>
            </a:r>
            <a:br/>
            <a:r>
              <a:t>development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3383280" cy="914400"/>
          </a:xfrm>
          <a:prstGeom prst="roundRect">
            <a:avLst/>
          </a:prstGeom>
          <a:solidFill>
            <a:srgbClr val="222238"/>
          </a:solidFill>
          <a:ln w="6350">
            <a:solidFill>
              <a:srgbClr val="3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  <a:latin typeface="Calibri"/>
              </a:defRPr>
            </a:pPr>
            <a:r>
              <a:t>Tailwind v4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EB0"/>
                </a:solidFill>
                <a:latin typeface="Calibri"/>
              </a:defRPr>
            </a:pPr>
            <a:r>
              <a:t>Utility-first</a:t>
            </a:r>
            <a:br/>
            <a:r>
              <a:t>CSS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3520"/>
            <a:ext cx="3383280" cy="914400"/>
          </a:xfrm>
          <a:prstGeom prst="roundRect">
            <a:avLst/>
          </a:prstGeom>
          <a:solidFill>
            <a:srgbClr val="222238"/>
          </a:solidFill>
          <a:ln w="6350">
            <a:solidFill>
              <a:srgbClr val="3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94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  <a:latin typeface="Calibri"/>
              </a:defRPr>
            </a:pPr>
            <a:r>
              <a:t>shadcn/ui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715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EB0"/>
                </a:solidFill>
                <a:latin typeface="Calibri"/>
              </a:defRPr>
            </a:pPr>
            <a:r>
              <a:t>Accessible</a:t>
            </a:r>
            <a:br/>
            <a:r>
              <a:t>components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59" y="1371600"/>
            <a:ext cx="3383280" cy="457200"/>
          </a:xfrm>
          <a:prstGeom prst="roundRect">
            <a:avLst/>
          </a:prstGeom>
          <a:solidFill>
            <a:srgbClr val="E84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59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Animation &amp; UX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2011680"/>
            <a:ext cx="3383280" cy="914400"/>
          </a:xfrm>
          <a:prstGeom prst="roundRect">
            <a:avLst/>
          </a:prstGeom>
          <a:solidFill>
            <a:srgbClr val="222238"/>
          </a:solidFill>
          <a:ln w="6350">
            <a:solidFill>
              <a:srgbClr val="3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39" y="2103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4D8A"/>
                </a:solidFill>
                <a:latin typeface="Calibri"/>
              </a:defRPr>
            </a:pPr>
            <a:r>
              <a:t>Framer Motion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39" y="24231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EB0"/>
                </a:solidFill>
                <a:latin typeface="Calibri"/>
              </a:defRPr>
            </a:pPr>
            <a:r>
              <a:t>Smooth page</a:t>
            </a:r>
            <a:br/>
            <a:r>
              <a:t>animations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3108960"/>
            <a:ext cx="3383280" cy="914400"/>
          </a:xfrm>
          <a:prstGeom prst="roundRect">
            <a:avLst/>
          </a:prstGeom>
          <a:solidFill>
            <a:srgbClr val="222238"/>
          </a:solidFill>
          <a:ln w="6350">
            <a:solidFill>
              <a:srgbClr val="3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39" y="32004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4D8A"/>
                </a:solidFill>
                <a:latin typeface="Calibri"/>
              </a:defRPr>
            </a:pPr>
            <a:r>
              <a:t>next-themes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39" y="3520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EB0"/>
                </a:solidFill>
                <a:latin typeface="Calibri"/>
              </a:defRPr>
            </a:pPr>
            <a:r>
              <a:t>Dark/Light</a:t>
            </a:r>
            <a:br/>
            <a:r>
              <a:t>mode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59" y="4206240"/>
            <a:ext cx="3383280" cy="914400"/>
          </a:xfrm>
          <a:prstGeom prst="roundRect">
            <a:avLst/>
          </a:prstGeom>
          <a:solidFill>
            <a:srgbClr val="222238"/>
          </a:solidFill>
          <a:ln w="6350">
            <a:solidFill>
              <a:srgbClr val="3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39" y="4297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4D8A"/>
                </a:solidFill>
                <a:latin typeface="Calibri"/>
              </a:defRPr>
            </a:pPr>
            <a:r>
              <a:t>Sonner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39" y="4617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EB0"/>
                </a:solidFill>
                <a:latin typeface="Calibri"/>
              </a:defRPr>
            </a:pPr>
            <a:r>
              <a:t>Toast</a:t>
            </a:r>
            <a:br/>
            <a:r>
              <a:t>notifications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59" y="5303520"/>
            <a:ext cx="3383280" cy="914400"/>
          </a:xfrm>
          <a:prstGeom prst="roundRect">
            <a:avLst/>
          </a:prstGeom>
          <a:solidFill>
            <a:srgbClr val="222238"/>
          </a:solidFill>
          <a:ln w="6350">
            <a:solidFill>
              <a:srgbClr val="3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39" y="5394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4D8A"/>
                </a:solidFill>
                <a:latin typeface="Calibri"/>
              </a:defRPr>
            </a:pPr>
            <a:r>
              <a:t>Vaul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39" y="5715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EB0"/>
                </a:solidFill>
                <a:latin typeface="Calibri"/>
              </a:defRPr>
            </a:pPr>
            <a:r>
              <a:t>Drawer</a:t>
            </a:r>
            <a:br/>
            <a:r>
              <a:t>components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1371600"/>
            <a:ext cx="338328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Data &amp; State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2011680"/>
            <a:ext cx="3383280" cy="914400"/>
          </a:xfrm>
          <a:prstGeom prst="roundRect">
            <a:avLst/>
          </a:prstGeom>
          <a:solidFill>
            <a:srgbClr val="222238"/>
          </a:solidFill>
          <a:ln w="6350">
            <a:solidFill>
              <a:srgbClr val="3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2103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Recharts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24231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EB0"/>
                </a:solidFill>
                <a:latin typeface="Calibri"/>
              </a:defRPr>
            </a:pPr>
            <a:r>
              <a:t>Data</a:t>
            </a:r>
            <a:br/>
            <a:r>
              <a:t>visualization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0" y="3108960"/>
            <a:ext cx="3383280" cy="914400"/>
          </a:xfrm>
          <a:prstGeom prst="roundRect">
            <a:avLst/>
          </a:prstGeom>
          <a:solidFill>
            <a:srgbClr val="222238"/>
          </a:solidFill>
          <a:ln w="6350">
            <a:solidFill>
              <a:srgbClr val="3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32004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CMDK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3520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EB0"/>
                </a:solidFill>
                <a:latin typeface="Calibri"/>
              </a:defRPr>
            </a:pPr>
            <a:r>
              <a:t>Command</a:t>
            </a:r>
            <a:br/>
            <a:r>
              <a:t>palette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4206240"/>
            <a:ext cx="3383280" cy="914400"/>
          </a:xfrm>
          <a:prstGeom prst="roundRect">
            <a:avLst/>
          </a:prstGeom>
          <a:solidFill>
            <a:srgbClr val="222238"/>
          </a:solidFill>
          <a:ln w="6350">
            <a:solidFill>
              <a:srgbClr val="3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0" y="4297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TanStack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617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EB0"/>
                </a:solidFill>
                <a:latin typeface="Calibri"/>
              </a:defRPr>
            </a:pPr>
            <a:r>
              <a:t>Server state</a:t>
            </a:r>
            <a:br/>
            <a:r>
              <a:t>management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0" y="5303520"/>
            <a:ext cx="3383280" cy="914400"/>
          </a:xfrm>
          <a:prstGeom prst="roundRect">
            <a:avLst/>
          </a:prstGeom>
          <a:solidFill>
            <a:srgbClr val="222238"/>
          </a:solidFill>
          <a:ln w="6350">
            <a:solidFill>
              <a:srgbClr val="33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5394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Lucide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5715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9EB0"/>
                </a:solidFill>
                <a:latin typeface="Calibri"/>
              </a:defRPr>
            </a:pPr>
            <a:r>
              <a:t>Icon</a:t>
            </a:r>
            <a:br/>
            <a:r>
              <a:t>library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Multi-Channel Revenue Streams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103120" cy="3931920"/>
          </a:xfrm>
          <a:prstGeom prst="roundRect">
            <a:avLst/>
          </a:prstGeom>
          <a:solidFill>
            <a:srgbClr val="22223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Featured Listings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9EB0"/>
                </a:solidFill>
                <a:latin typeface="Calibri"/>
              </a:defRPr>
            </a:pPr>
            <a:r>
              <a:t>Paid promotion for</a:t>
            </a:r>
            <a:br/>
            <a:r>
              <a:t>landlords to boost</a:t>
            </a:r>
            <a:br/>
            <a:r>
              <a:t>listing visibility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840480"/>
            <a:ext cx="173736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NPR 500-2,000</a:t>
            </a:r>
            <a:br/>
            <a:r>
              <a:t>/month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463040"/>
            <a:ext cx="2103120" cy="3931920"/>
          </a:xfrm>
          <a:prstGeom prst="roundRect">
            <a:avLst/>
          </a:prstGeom>
          <a:solidFill>
            <a:srgbClr val="222238"/>
          </a:solidFill>
          <a:ln w="190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194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63FF"/>
                </a:solidFill>
                <a:latin typeface="Calibri"/>
              </a:defRPr>
            </a:pPr>
            <a:r>
              <a:t>Premium Subscriptions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6517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9EB0"/>
                </a:solidFill>
                <a:latin typeface="Calibri"/>
              </a:defRPr>
            </a:pPr>
            <a:r>
              <a:t>Unlimited saved</a:t>
            </a:r>
            <a:br/>
            <a:r>
              <a:t>searches, alerts &amp;</a:t>
            </a:r>
            <a:br/>
            <a:r>
              <a:t>advanced filters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71800" y="3840480"/>
            <a:ext cx="1737360" cy="45720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3840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NPR 300/month</a:t>
            </a:r>
            <a:br/>
            <a:r>
              <a:t>or 2,999/yr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1463040"/>
            <a:ext cx="2103120" cy="3931920"/>
          </a:xfrm>
          <a:prstGeom prst="roundRect">
            <a:avLst/>
          </a:prstGeom>
          <a:solidFill>
            <a:srgbClr val="222238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194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B923C"/>
                </a:solidFill>
                <a:latin typeface="Calibri"/>
              </a:defRPr>
            </a:pPr>
            <a:r>
              <a:t>Verified Badge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6517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9EB0"/>
                </a:solidFill>
                <a:latin typeface="Calibri"/>
              </a:defRPr>
            </a:pPr>
            <a:r>
              <a:t>Property verification</a:t>
            </a:r>
            <a:br/>
            <a:r>
              <a:t>by RoomSathi team</a:t>
            </a:r>
            <a:br/>
            <a:r>
              <a:t>for trust badge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0" y="3840480"/>
            <a:ext cx="1737360" cy="45720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3840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NPR 1,000</a:t>
            </a:r>
            <a:br/>
            <a:r>
              <a:t>one-time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59" y="1463040"/>
            <a:ext cx="2103120" cy="3931920"/>
          </a:xfrm>
          <a:prstGeom prst="roundRect">
            <a:avLst/>
          </a:prstGeom>
          <a:solidFill>
            <a:srgbClr val="222238"/>
          </a:solidFill>
          <a:ln w="19050">
            <a:solidFill>
              <a:srgbClr val="E84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59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799" y="2194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4D8A"/>
                </a:solidFill>
                <a:latin typeface="Calibri"/>
              </a:defRPr>
            </a:pPr>
            <a:r>
              <a:t>Sponsored Ads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799" y="26517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9EB0"/>
                </a:solidFill>
                <a:latin typeface="Calibri"/>
              </a:defRPr>
            </a:pPr>
            <a:r>
              <a:t>Targeted promotions</a:t>
            </a:r>
            <a:br/>
            <a:r>
              <a:t>for hostels, PGs &amp;</a:t>
            </a:r>
            <a:br/>
            <a:r>
              <a:t>property developers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39" y="3840480"/>
            <a:ext cx="1737360" cy="457200"/>
          </a:xfrm>
          <a:prstGeom prst="roundRect">
            <a:avLst/>
          </a:prstGeom>
          <a:solidFill>
            <a:srgbClr val="E84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39" y="3840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Custom</a:t>
            </a:r>
            <a:br/>
            <a:r>
              <a:t>pricing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4080" y="1463040"/>
            <a:ext cx="2103120" cy="3931920"/>
          </a:xfrm>
          <a:prstGeom prst="roundRect">
            <a:avLst/>
          </a:prstGeom>
          <a:solidFill>
            <a:srgbClr val="222238"/>
          </a:solidFill>
          <a:ln w="19050"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2194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0C997"/>
                </a:solidFill>
                <a:latin typeface="Calibri"/>
              </a:defRPr>
            </a:pPr>
            <a:r>
              <a:t>Partner Commission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26517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9EB0"/>
                </a:solidFill>
                <a:latin typeface="Calibri"/>
              </a:defRPr>
            </a:pPr>
            <a:r>
              <a:t>Referral fees from</a:t>
            </a:r>
            <a:br/>
            <a:r>
              <a:t>moving services,</a:t>
            </a:r>
            <a:br/>
            <a:r>
              <a:t>packers, insurance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66960" y="3840480"/>
            <a:ext cx="1737360" cy="457200"/>
          </a:xfrm>
          <a:prstGeom prst="round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60" y="3840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5-10%</a:t>
            </a:r>
            <a:br/>
            <a:r>
              <a:t>commission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669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9EB0"/>
                </a:solidFill>
                <a:latin typeface="Calibri"/>
              </a:defRPr>
            </a:pPr>
            <a:r>
              <a:t>💡  Core rental listings &amp; tenant-landlord connections always remain FREE.</a:t>
            </a:r>
            <a:br/>
            <a:r>
              <a:t>     Revenue generated from value-added services, not from the basic matchmaking.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Our Journey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10698480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2468880"/>
            <a:ext cx="457200" cy="4572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C63FF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2103120" cy="228600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C63FF"/>
                </a:solidFill>
                <a:latin typeface="Calibri"/>
              </a:defRPr>
            </a:pPr>
            <a:r>
              <a:t>Beta Launch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576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9EB0"/>
                </a:solidFill>
                <a:latin typeface="Calibri"/>
              </a:defRPr>
            </a:pPr>
            <a:r>
              <a:t>Kathmandu Valley</a:t>
            </a:r>
            <a:br/>
            <a:r>
              <a:t>500+ verified listings</a:t>
            </a:r>
            <a:br/>
            <a:r>
              <a:t>Web platform MVP</a:t>
            </a:r>
          </a:p>
        </p:txBody>
      </p:sp>
      <p:sp>
        <p:nvSpPr>
          <p:cNvPr id="11" name="Oval 10"/>
          <p:cNvSpPr/>
          <p:nvPr/>
        </p:nvSpPr>
        <p:spPr>
          <a:xfrm>
            <a:off x="3840480" y="2468880"/>
            <a:ext cx="457200" cy="457200"/>
          </a:xfrm>
          <a:prstGeom prst="ellipse">
            <a:avLst/>
          </a:prstGeom>
          <a:solidFill>
            <a:srgbClr val="E84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3291840" y="1828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4D8A"/>
                </a:solidFill>
                <a:latin typeface="Calibri"/>
              </a:defRPr>
            </a:pPr>
            <a:r>
              <a:t>Q4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3108960"/>
            <a:ext cx="2103120" cy="228600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E84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32004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4D8A"/>
                </a:solidFill>
                <a:latin typeface="Calibri"/>
              </a:defRPr>
            </a:pPr>
            <a:r>
              <a:t>Mobile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6576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9EB0"/>
                </a:solidFill>
                <a:latin typeface="Calibri"/>
              </a:defRPr>
            </a:pPr>
            <a:r>
              <a:t>React Native app</a:t>
            </a:r>
            <a:br/>
            <a:r>
              <a:t>iOS &amp; Android</a:t>
            </a:r>
            <a:br/>
            <a:r>
              <a:t>Push notifications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24688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5852160" y="1828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Q1 2027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3108960"/>
            <a:ext cx="2103120" cy="228600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32004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B981"/>
                </a:solidFill>
                <a:latin typeface="Calibri"/>
              </a:defRPr>
            </a:pPr>
            <a:r>
              <a:t>AI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6576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9EB0"/>
                </a:solidFill>
                <a:latin typeface="Calibri"/>
              </a:defRPr>
            </a:pPr>
            <a:r>
              <a:t>Roommate matching</a:t>
            </a:r>
            <a:br/>
            <a:r>
              <a:t>Price prediction</a:t>
            </a:r>
            <a:br/>
            <a:r>
              <a:t>Smart recommendations</a:t>
            </a:r>
          </a:p>
        </p:txBody>
      </p:sp>
      <p:sp>
        <p:nvSpPr>
          <p:cNvPr id="21" name="Oval 20"/>
          <p:cNvSpPr/>
          <p:nvPr/>
        </p:nvSpPr>
        <p:spPr>
          <a:xfrm>
            <a:off x="8961120" y="2468880"/>
            <a:ext cx="457200" cy="45720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8412480" y="1828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  <a:latin typeface="Calibri"/>
              </a:defRPr>
            </a:pPr>
            <a:r>
              <a:t>Q2 2027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3108960"/>
            <a:ext cx="2103120" cy="228600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32004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B923C"/>
                </a:solidFill>
                <a:latin typeface="Calibri"/>
              </a:defRPr>
            </a:pPr>
            <a:r>
              <a:t>Expansion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6576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9EB0"/>
                </a:solidFill>
                <a:latin typeface="Calibri"/>
              </a:defRPr>
            </a:pPr>
            <a:r>
              <a:t>Pokhara, Chitwan</a:t>
            </a:r>
            <a:br/>
            <a:r>
              <a:t>Bharatpur &amp; more</a:t>
            </a:r>
            <a:br/>
            <a:r>
              <a:t>1000+ listings target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486400"/>
            <a:ext cx="5029200" cy="457200"/>
          </a:xfrm>
          <a:prstGeom prst="roundRect">
            <a:avLst/>
          </a:prstGeom>
          <a:solidFill>
            <a:srgbClr val="1A1A2E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486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9EB0"/>
                </a:solidFill>
                <a:latin typeface="Calibri"/>
              </a:defRPr>
            </a:pPr>
            <a:r>
              <a:t>Q3 2027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5486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9EB0"/>
                </a:solidFill>
                <a:latin typeface="Calibri"/>
              </a:defRPr>
            </a:pPr>
            <a:r>
              <a:t>Digital Lease Agreements &amp; Online Rent Payments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5486400"/>
            <a:ext cx="5029200" cy="457200"/>
          </a:xfrm>
          <a:prstGeom prst="roundRect">
            <a:avLst/>
          </a:prstGeom>
          <a:solidFill>
            <a:srgbClr val="1A1A2E"/>
          </a:solidFill>
          <a:ln w="63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5486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9EB0"/>
                </a:solidFill>
                <a:latin typeface="Calibri"/>
              </a:defRPr>
            </a:pPr>
            <a:r>
              <a:t>Q4 2027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486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9EB0"/>
                </a:solidFill>
                <a:latin typeface="Calibri"/>
              </a:defRPr>
            </a:pPr>
            <a:r>
              <a:t>e-Government Integration: NOC, Citizenship, PAN verification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WHY INVEST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RoomSathi Will Win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2103120"/>
          </a:xfrm>
          <a:prstGeom prst="roundRect">
            <a:avLst/>
          </a:prstGeom>
          <a:solidFill>
            <a:srgbClr val="222238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First Mover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EB0"/>
                </a:solidFill>
                <a:latin typeface="Calibri"/>
              </a:defRPr>
            </a:pPr>
            <a:r>
              <a:t>No dedicated rental</a:t>
            </a:r>
            <a:br/>
            <a:r>
              <a:t>platform for Nepali</a:t>
            </a:r>
            <a:br/>
            <a:r>
              <a:t>market exists yet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54480"/>
            <a:ext cx="3383280" cy="2103120"/>
          </a:xfrm>
          <a:prstGeom prst="roundRect">
            <a:avLst/>
          </a:prstGeom>
          <a:solidFill>
            <a:srgbClr val="222238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39" y="17373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59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AI Advantage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2860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EB0"/>
                </a:solidFill>
                <a:latin typeface="Calibri"/>
              </a:defRPr>
            </a:pPr>
            <a:r>
              <a:t>Smart matching &amp;</a:t>
            </a:r>
            <a:br/>
            <a:r>
              <a:t>prediction algorithms</a:t>
            </a:r>
            <a:br/>
            <a:r>
              <a:t>over traditional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554480"/>
            <a:ext cx="3383280" cy="2103120"/>
          </a:xfrm>
          <a:prstGeom prst="roundRect">
            <a:avLst/>
          </a:prstGeom>
          <a:solidFill>
            <a:srgbClr val="222238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7373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Massive Market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2860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EB0"/>
                </a:solidFill>
                <a:latin typeface="Calibri"/>
              </a:defRPr>
            </a:pPr>
            <a:r>
              <a:t>2.5B+ NPR annual</a:t>
            </a:r>
            <a:br/>
            <a:r>
              <a:t>commission market</a:t>
            </a:r>
            <a:br/>
            <a:r>
              <a:t>with 15% online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222238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062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Trust 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548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EB0"/>
                </a:solidFill>
                <a:latin typeface="Calibri"/>
              </a:defRPr>
            </a:pPr>
            <a:r>
              <a:t>Verified listings &amp;</a:t>
            </a:r>
            <a:br/>
            <a:r>
              <a:t>zero broker model</a:t>
            </a:r>
            <a:br/>
            <a:r>
              <a:t>builds real trust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4023360"/>
            <a:ext cx="3383280" cy="2103120"/>
          </a:xfrm>
          <a:prstGeom prst="roundRect">
            <a:avLst/>
          </a:prstGeom>
          <a:solidFill>
            <a:srgbClr val="222238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39" y="42062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59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Scalable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47548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EB0"/>
                </a:solidFill>
                <a:latin typeface="Calibri"/>
              </a:defRPr>
            </a:pPr>
            <a:r>
              <a:t>Kathmandu first, then</a:t>
            </a:r>
            <a:br/>
            <a:r>
              <a:t>Pokhara, Chitwan,</a:t>
            </a:r>
            <a:br/>
            <a:r>
              <a:t>and all urban Nepal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023360"/>
            <a:ext cx="3383280" cy="2103120"/>
          </a:xfrm>
          <a:prstGeom prst="roundRect">
            <a:avLst/>
          </a:prstGeom>
          <a:solidFill>
            <a:srgbClr val="222238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2062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Strong Team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7548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9EB0"/>
                </a:solidFill>
                <a:latin typeface="Calibri"/>
              </a:defRPr>
            </a:pPr>
            <a:r>
              <a:t>Built with modern</a:t>
            </a:r>
            <a:br/>
            <a:r>
              <a:t>tech stack by</a:t>
            </a:r>
            <a:br/>
            <a:r>
              <a:t>experienced devs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4572000"/>
            <a:ext cx="4572000" cy="4572000"/>
          </a:xfrm>
          <a:prstGeom prst="ellipse">
            <a:avLst/>
          </a:prstGeom>
          <a:solidFill>
            <a:srgbClr val="6C63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914400"/>
            <a:ext cx="5486400" cy="5486400"/>
          </a:xfrm>
          <a:prstGeom prst="ellipse">
            <a:avLst/>
          </a:prstGeom>
          <a:solidFill>
            <a:srgbClr val="6C63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Let's Build the Future of</a:t>
            </a:r>
            <a:br/>
            <a:r>
              <a:t>Rental Housing in Nepal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9EB0"/>
                </a:solidFill>
                <a:latin typeface="Calibri"/>
              </a:defRPr>
            </a:pPr>
            <a:r>
              <a:t>Join us in making room hunting stress-free for millions of Nepalis.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3931920"/>
            <a:ext cx="6400800" cy="1645920"/>
          </a:xfrm>
          <a:prstGeom prst="roundRect">
            <a:avLst/>
          </a:prstGeom>
          <a:solidFill>
            <a:srgbClr val="222238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alibri"/>
              </a:defRPr>
            </a:pPr>
            <a:r>
              <a:t>📧  hello@roomsathi.com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4526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alibri"/>
              </a:defRPr>
            </a:pPr>
            <a:r>
              <a:t>🌐  www.roomsathi.com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937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alibri"/>
              </a:defRPr>
            </a:pPr>
            <a:r>
              <a:t>📍  Kathmandu, Nepal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Thank You! 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